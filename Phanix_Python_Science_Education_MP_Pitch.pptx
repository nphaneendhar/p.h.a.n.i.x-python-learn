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5912" cy="7315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D996"/>
                </a:solidFill>
                <a:latin typeface="Arial"/>
              </a:defRPr>
            </a:pPr>
            <a:r>
              <a:t>EMPOWERING SCIENCE STUDENTS WITH COMPUTATIONAL POWER</a:t>
            </a:r>
          </a:p>
          <a:p>
            <a:pPr>
              <a:spcBef>
                <a:spcPts val="600"/>
              </a:spcBef>
              <a:defRPr sz="3400" b="1">
                <a:solidFill>
                  <a:srgbClr val="F5F9FF"/>
                </a:solidFill>
                <a:latin typeface="Arial"/>
              </a:defRPr>
            </a:pPr>
            <a:r>
              <a:t>PHANIX: Interactive Python Learning Platform</a:t>
            </a:r>
          </a:p>
          <a:p>
            <a:pPr>
              <a:spcBef>
                <a:spcPts val="800"/>
              </a:spcBef>
              <a:defRPr sz="1500">
                <a:solidFill>
                  <a:srgbClr val="B7C7DE"/>
                </a:solidFill>
                <a:latin typeface="Arial"/>
              </a:defRPr>
            </a:pPr>
            <a:r>
              <a:t>A 100% Free, Zero-Installation Web Platform Bridging Modern Science, Coding &amp; Digital Forensics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389120"/>
            <a:ext cx="3383280" cy="18288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ACCESSIBILITY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Zero Installation Barrier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Runs entirely in any browser (Phone, Tablet, Lab PC)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No expensive software or admin access needed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Works even on low-cost rural computer 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389120"/>
            <a:ext cx="3383280" cy="18288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0A84FF"/>
                </a:solidFill>
                <a:latin typeface="Arial"/>
              </a:defRPr>
            </a:pPr>
            <a:r>
              <a:t>CURRICULUM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Practical Science Focus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Calculations for Physics, Chemistry &amp; Biology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Data analysis, statistical charts &amp; algorithms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Pre-loaded templates for real science experiments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4389120"/>
            <a:ext cx="3383280" cy="18288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ATMANIRBHAR BHARAT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Created for Public Impact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Developed by Phaneendhar Nittala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Integrated with live Cyber Security &amp; Forensic suites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Ready for immediate pilot across schools &amp; colleges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A84FF"/>
                </a:solidFill>
                <a:latin typeface="Arial"/>
              </a:defRPr>
            </a:pPr>
            <a:r>
              <a:t>P.H.A.N.I.X PLATFORM · NATIONAL EDUCATION &amp; STEM INITIATIVE · 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9FF"/>
                </a:solidFill>
                <a:latin typeface="Arial"/>
              </a:defRPr>
            </a:pPr>
            <a:r>
              <a:t>The Crisis in Traditional Science Education</a:t>
            </a:r>
          </a:p>
          <a:p>
            <a:pPr>
              <a:defRPr sz="1100">
                <a:solidFill>
                  <a:srgbClr val="B7C7DE"/>
                </a:solidFill>
                <a:latin typeface="Arial"/>
              </a:defRPr>
            </a:pPr>
            <a:r>
              <a:t>Why rote learning and blackboard science are failing our youth in the 21st century.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THE PROBLEM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1. Theoretical Theory vs. Real Computation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Students memorize formulas (E=mc², stoichiometry, genetics) on paper without seeing them dynamically simulated.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Global science is 90% computer-driven today; students without Python coding skills fall behind internationally.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Lack of practical problem-solving creates unemployable graduates.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THE BARRIER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2. The Software &amp; Hardware Divide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Commercial tools (MATLAB, LabVIEW) cost thousands of dollars per license, unaffordable for public institutions.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Installing Python, Anaconda, and compilers requires high-end PCs and technical IT support that rural schools lack.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Students without laptops cannot practice at home.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THE SOLUTION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3. How PHANIX Solves It Instantly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100% Free &amp; Open Web Access: Zero installation, runs on any web browser with instant click-to-run execution.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Safe Sandboxed Environment: Students experiment without fear of breaking computer files or getting viruses.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Instant Visual Feedback: Code outputs, line-by-line explanations, and automated grading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0A84FF"/>
                </a:solidFill>
                <a:latin typeface="Arial"/>
              </a:defRPr>
            </a:pPr>
            <a:r>
              <a:t>POLICY ALIGNMENT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4. Direct Alignment with NEP 2020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Directly implements the National Education Policy mandate for coding and experiential learning from Class 6 onwards.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Equips students in government institutions with high-demand 21st-century technological skills.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Promotes scientific inquiry, computational logic, and research aptitude.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A84FF"/>
                </a:solidFill>
                <a:latin typeface="Arial"/>
              </a:defRPr>
            </a:pPr>
            <a:r>
              <a:t>P.H.A.N.I.X PLATFORM · NATIONAL EDUCATION &amp; STEM INITIATIVE · 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9FF"/>
                </a:solidFill>
                <a:latin typeface="Arial"/>
              </a:defRPr>
            </a:pPr>
            <a:r>
              <a:t>Applied Science in Action: How Students Learn</a:t>
            </a:r>
          </a:p>
          <a:p>
            <a:pPr>
              <a:defRPr sz="1100">
                <a:solidFill>
                  <a:srgbClr val="B7C7DE"/>
                </a:solidFill>
                <a:latin typeface="Arial"/>
              </a:defRPr>
            </a:pPr>
            <a:r>
              <a:t>Transforming abstract textbook equations into living, interactive digital experiments.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0A84FF"/>
                </a:solidFill>
                <a:latin typeface="Arial"/>
              </a:defRPr>
            </a:pPr>
            <a:r>
              <a:t>PHYSICAL SCIENCES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⚛️ Physics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Simulating projectile trajectories and gravity equations.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Harmonic oscillation &amp; wave frequency modeling.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Calculating orbital velocity and escape speeds.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Automating Ohm's law and circuit resistances.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Direct numerical proof of physical laws.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CHEMICAL SCIENCES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🧪 Chemistry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Calculating molecular weights and stoichiometry ratios.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Radioactive decay &amp; half-life exponential curves.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pH balance and titration curve simulations.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Gas law calculations (PV=nRT) with varying inputs.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Automating lab titration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LIFE SCIENCES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🧬 Biology &amp; Genetics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DNA &amp; RNA nucleotide sequence counters (A, T, G, C).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Calculating GC-content ratio for genetic stability.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Simulating Mendelian inheritance &amp; Punnett squares.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Bacterial population growth rate models.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Introduction to modern Bioinformatics!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56032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5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5F9FF"/>
                </a:solidFill>
                <a:latin typeface="Arial"/>
              </a:defRPr>
            </a:pPr>
            <a:r>
              <a:t>FORENSIC TECH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🛡️ Forensics &amp; Cyber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Cryptographic hashing of evidence (SHA-256, MD5).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Tamper verification &amp; file integrity tracking.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Extracting IP addresses &amp; threat indicators from logs.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Real-world connection to Nittala Forensic Suite.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Career pathway into Cyber Defense &amp; Forensics.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A84FF"/>
                </a:solidFill>
                <a:latin typeface="Arial"/>
              </a:defRPr>
            </a:pPr>
            <a:r>
              <a:t>P.H.A.N.I.X PLATFORM · NATIONAL EDUCATION &amp; STEM INITIATIVE · 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9FF"/>
                </a:solidFill>
                <a:latin typeface="Arial"/>
              </a:defRPr>
            </a:pPr>
            <a:r>
              <a:t>Platform Features: Built for Maximum Engagement</a:t>
            </a:r>
          </a:p>
          <a:p>
            <a:pPr>
              <a:defRPr sz="1100">
                <a:solidFill>
                  <a:srgbClr val="B7C7DE"/>
                </a:solidFill>
                <a:latin typeface="Arial"/>
              </a:defRPr>
            </a:pPr>
            <a:r>
              <a:t>A complete ecosystem uniting curriculum, code editor, automated testing, and reference.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0A84FF"/>
                </a:solidFill>
                <a:latin typeface="Arial"/>
              </a:defRPr>
            </a:pPr>
            <a:r>
              <a:t>CURRICULUM ENGINE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Structured 10-Module Curriculum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21 guided interactive lessons covering Python fundamentals to OOP.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Bite-sized theory with code examples and line explanations.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Immediate interactive quiz at the end of every lesson.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Zero intimidation for first-time learners.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286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LIVE EXECUTION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In-Browser Code Playground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Live Python execution with terminal console output.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Safe execution timeout protection against infinite loops.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Support for interactive user input() and data streams.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Pre-loaded algorithm and scientific templates.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286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AUTOMATED TESTING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Automated Code Challenges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Real-world programming challenges with automated unit tests.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Instant feedback: tests edge cases and algorithm correctness.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Tiered difficulty: Beginner to Advanced.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Builds real engineering problem-solving muscle.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38328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5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5F9FF"/>
                </a:solidFill>
                <a:latin typeface="Arial"/>
              </a:defRPr>
            </a:pPr>
            <a:r>
              <a:t>INSTANT REFERENCE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Master 12-Category Cheat Sheet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Comprehensive reference guide with 60+ categorized topics.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Quick-search bar with instant syntax filtering.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One-click '⚡ Try in Playground' directly from reference.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Covers strings, regex, APIs, files, and cryptography.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38328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STUDENT ENGAGEMENT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Gamification &amp; Motivation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Experience Points (XP) earned for every completed task.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Daily learning streak tracker to build daily habits.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Unlockable achievement badges celebrating mastery.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Confetti celebrations on solving tough challenges.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06240"/>
            <a:ext cx="338328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0A84FF"/>
                </a:solidFill>
                <a:latin typeface="Arial"/>
              </a:defRPr>
            </a:pPr>
            <a:r>
              <a:t>CAREER READINESS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Verifiable Certificate of Mastery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Official certificate generated dynamically upon completion.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Recognizes student effort and practical coding skills.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Shareable on LinkedIn, resumes, and academic portfolios.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Gives tangible career motivation to students.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A84FF"/>
                </a:solidFill>
                <a:latin typeface="Arial"/>
              </a:defRPr>
            </a:pPr>
            <a:r>
              <a:t>P.H.A.N.I.X PLATFORM · NATIONAL EDUCATION &amp; STEM INITIATIVE · 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9FF"/>
                </a:solidFill>
                <a:latin typeface="Arial"/>
              </a:defRPr>
            </a:pPr>
            <a:r>
              <a:t>Beyond Basics: Transfer to National Security &amp; Cyber</a:t>
            </a:r>
          </a:p>
          <a:p>
            <a:pPr>
              <a:defRPr sz="1100">
                <a:solidFill>
                  <a:srgbClr val="B7C7DE"/>
                </a:solidFill>
                <a:latin typeface="Arial"/>
              </a:defRPr>
            </a:pPr>
            <a:r>
              <a:t>How students transition from classroom coding to real-world security platforms.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FLAGSHIP PROJECT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🛡️ Nittala Forensic Suite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Live production web platform: nittala-forensic-suite.vercel.app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Built for real-time security log investigation and network audit.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Malicious IP triage, forensic memory analysis, and threat correlation.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Students see how Python powers real cyber defense software.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Demonstrates practical cyber security careers for youth.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0A84FF"/>
                </a:solidFill>
                <a:latin typeface="Arial"/>
              </a:defRPr>
            </a:pPr>
            <a:r>
              <a:t>DIGITAL FORENSICS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🔍 PHANIX Investigation Expert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Automated digital evidence extraction &amp; chain of custody framework.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Integrates Open Source Intelligence (OSINT) and threat feeds.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Teaches evidence integrity, hashing, and digital court compliance.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Direct application for police, judicial, and forensic trainees.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Inspires students to build indigenous security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APPLIED CRYPTOGRAPHY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📱 Forensic QR Architect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Cryptographic QR generator with tamper-verification algorithms.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Reed-Solomon error correction and cryptographic hashes.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Applied data encoding for secure government documents.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Highlights data privacy and tamper-proofing technology.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Proves youth can build enterprise-grade software.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A84FF"/>
                </a:solidFill>
                <a:latin typeface="Arial"/>
              </a:defRPr>
            </a:pPr>
            <a:r>
              <a:t>P.H.A.N.I.X PLATFORM · NATIONAL EDUCATION &amp; STEM INITIATIVE · 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9FF"/>
                </a:solidFill>
                <a:latin typeface="Arial"/>
              </a:defRPr>
            </a:pPr>
            <a:r>
              <a:t>Societal Impact &amp; Democratic Access in Your Constituency</a:t>
            </a:r>
          </a:p>
          <a:p>
            <a:pPr>
              <a:defRPr sz="1100">
                <a:solidFill>
                  <a:srgbClr val="B7C7DE"/>
                </a:solidFill>
                <a:latin typeface="Arial"/>
              </a:defRPr>
            </a:pPr>
            <a:r>
              <a:t>Reaching the most underserved students with zero government expenditure on licenses.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PUBLIC VALUE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1. Zero License Cost to Public Treasury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Commercial coding platforms charge ₹3,000–₹10,000 per student annually.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PHANIX is built on open standards with zero external licensing fees.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Can be deployed across 100+ schools and degree colleges at zero incremental software cost.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Saves crores in public education budgets while delivering superior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0A84FF"/>
                </a:solidFill>
                <a:latin typeface="Arial"/>
              </a:defRPr>
            </a:pPr>
            <a:r>
              <a:t>DIGITAL INCLUSION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2. Bridging the Rural &amp; Urban Divide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Students in rural and tier-2/3 institutions often lack expensive PCs.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PHANIX runs smoothly on low-bandwidth connections and basic mobile browsers.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A village student with a smartphone has the exact same learning experience as an urban elite school student.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True democratization of technological education.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YOUTH EMPLOYMENT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3. Direct Employment &amp; Startup Readiness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Python is the #1 demanded programming language in India and globally (AI, Data Science, Cyber).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Science graduates with Python earn 2x to 3x higher starting salaries than non-coding peers.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Provides practical skills required for IT, research labs, defence, and tech startups.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Transforms educated youth into skilled, employable contributors.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5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5F9FF"/>
                </a:solidFill>
                <a:latin typeface="Arial"/>
              </a:defRPr>
            </a:pPr>
            <a:r>
              <a:t>NATIONAL PRIDE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4. Fostering Indigenous Tech (Atmanirbhar)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Encourages local students to build homegrown solutions rather than relying on foreign software.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Cultivates talent in strategic sectors: Cyber Security, Forensics, and Scientific Computing.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Positions the constituency as a pioneer in STEM education excellence in the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A84FF"/>
                </a:solidFill>
                <a:latin typeface="Arial"/>
              </a:defRPr>
            </a:pPr>
            <a:r>
              <a:t>P.H.A.N.I.X PLATFORM · NATIONAL EDUCATION &amp; STEM INITIATIVE · 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9FF"/>
                </a:solidFill>
                <a:latin typeface="Arial"/>
              </a:defRPr>
            </a:pPr>
            <a:r>
              <a:t>Action Plan: Pilot Implementation in the Constituency</a:t>
            </a:r>
          </a:p>
          <a:p>
            <a:pPr>
              <a:defRPr sz="1100">
                <a:solidFill>
                  <a:srgbClr val="B7C7DE"/>
                </a:solidFill>
                <a:latin typeface="Arial"/>
              </a:defRPr>
            </a:pPr>
            <a:r>
              <a:t>A clear, 4-phase rollout requiring zero complex IT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0A84FF"/>
                </a:solidFill>
                <a:latin typeface="Arial"/>
              </a:defRPr>
            </a:pPr>
            <a:r>
              <a:t>MONTH 1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Phase 1: Pilot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Select 5 Government Degree Colleges and Higher Secondary Schools.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100 science students in pilot cohort.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Zero hardware procurement needed; utilize existing computer labs or phones.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Duration: 4 Weeks.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Goal: Validate engagement &amp;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MONTH 2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Phase 2: Training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Conduct 1-Day Teacher &amp; Lecturer Enablement Workshop.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Equip science faculty with Python experiment templates.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Establish student PHANIX Coding Ambassadors in each institution.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Provide continuous mentor support.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Goal: Faculty self-reliance.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MONTH 3-4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Phase 3: Scale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Expand to all Junior &amp; Degree Colleges across the constituency.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Integrate PHANIX weekly coding hours into science lab schedules.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Host Constituency-Level Science Coding Hackathon.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Award top student projects under MP patronage.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Goal: District-wide youth movement.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560320" cy="457200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5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5F9FF"/>
                </a:solidFill>
                <a:latin typeface="Arial"/>
              </a:defRPr>
            </a:pPr>
            <a:r>
              <a:t>MONTH 5+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Phase 4: Impact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Measure learning gains: quiz scores, projects built, certificates earned.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Publish Constituency STEM Excellence Report.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Present model to State Education Ministry for statewide adoption.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Showcase the constituency as a national digital model.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Goal: Long-term policy legacy.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725912" cy="73152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9FF"/>
                </a:solidFill>
                <a:latin typeface="Arial"/>
              </a:defRPr>
            </a:pPr>
            <a:r>
              <a:t>THE PROPOSAL: PARTNERING TO EMPOWER OUR YOUTH</a:t>
            </a:r>
          </a:p>
          <a:p>
            <a:pPr>
              <a:spcBef>
                <a:spcPts val="400"/>
              </a:spcBef>
              <a:defRPr sz="1300">
                <a:solidFill>
                  <a:srgbClr val="B7C7DE"/>
                </a:solidFill>
                <a:latin typeface="Arial"/>
              </a:defRPr>
            </a:pPr>
            <a:r>
              <a:t>Together, we can give every science student in this constituency the tools to lead India's technological future.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5120640" cy="329184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38D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38D996"/>
                </a:solidFill>
                <a:latin typeface="Arial"/>
              </a:defRPr>
            </a:pPr>
            <a:r>
              <a:t>OUR COMMITMENT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What We Bring (Ready Today)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Complete, fully functioning interactive web platform (PHANIX).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Comprehensive 10-module curriculum and 12-category scientific cheat sheet.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Zero licensing cost, zero installation, cloud-ready architecture.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End-to-end technical leadership by creator Phaneendhar Nittala.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Proven forensic and security tools built by indigenous talent.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926080"/>
            <a:ext cx="5120640" cy="3291840"/>
          </a:xfrm>
          <a:prstGeom prst="roundRect">
            <a:avLst/>
          </a:prstGeom>
          <a:solidFill>
            <a:srgbClr val="102647"/>
          </a:solidFill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850" b="1">
                <a:solidFill>
                  <a:srgbClr val="FFB454"/>
                </a:solidFill>
                <a:latin typeface="Arial"/>
              </a:defRPr>
            </a:pPr>
            <a:r>
              <a:t>THE PARTNERSHIP</a:t>
            </a:r>
          </a:p>
          <a:p>
            <a:pPr>
              <a:defRPr sz="1400" b="1">
                <a:solidFill>
                  <a:srgbClr val="F5F9FF"/>
                </a:solidFill>
                <a:latin typeface="Arial"/>
              </a:defRPr>
            </a:pPr>
            <a:r>
              <a:t>What We Request from Hon'ble MP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Official patronage and recommendation letter to District Education Officers (DEO) &amp; College Principals.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Inauguration of a 5-college Science &amp; Coding Pilot Initiative.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Support for hosting an annual Constituency Youth STEM &amp; Coding Exhibition.</a:t>
            </a:r>
          </a:p>
          <a:p>
            <a:pPr>
              <a:spcBef>
                <a:spcPts val="400"/>
              </a:spcBef>
              <a:defRPr sz="1000">
                <a:solidFill>
                  <a:srgbClr val="B7C7DE"/>
                </a:solidFill>
                <a:latin typeface="Arial"/>
              </a:defRPr>
            </a:pPr>
            <a:r>
              <a:t>• Joint mission to make this constituency the #1 digitally empowered district in the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